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ExtraBold"/>
      <p:bold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ExtraBold-boldItalic.fntdata"/><Relationship Id="rId23" Type="http://schemas.openxmlformats.org/officeDocument/2006/relationships/font" Target="fonts/Inter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eb4b937ec_0_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eb4b937ec_0_30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eb4b937ec_25_2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eb4b937ec_51_70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eb4b937ec_51_4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eb4b937ec_51_10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678e98738_0_10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678e98738_0_10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678e98738_0_1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eb4b937ec_9_0)">
  <p:cSld name="Generated (g3deb4b937ec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571500" y="533400"/>
            <a:ext cx="381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4"/>
          <p:cNvSpPr txBox="1"/>
          <p:nvPr/>
        </p:nvSpPr>
        <p:spPr>
          <a:xfrm>
            <a:off x="571500" y="361950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CS 677 Final Project</a:t>
            </a:r>
            <a:endParaRPr b="0" sz="11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571500" y="1047750"/>
            <a:ext cx="8001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74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Bayesian Epistemic Uncertainty for LLM Trajectory Selection</a:t>
            </a:r>
            <a:endParaRPr b="0" sz="374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571500" y="2476500"/>
            <a:ext cx="685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Can epistemic uncertainty choose better reasoning trajectories for fine-tuning than standard entropy?</a:t>
            </a:r>
            <a:endParaRPr b="0"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571500" y="438150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Better post-training data curation may help small language models learn reasoning more efficiently.</a:t>
            </a:r>
            <a:endParaRPr b="0"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71500" y="4000500"/>
            <a:ext cx="800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James Chen</a:t>
            </a:r>
            <a:endParaRPr b="0" sz="14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571500" y="571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Why Standard Entropy Is Not Enough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571500" y="11906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en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 all uncertainty is equally useful for data selection.</a:t>
            </a:r>
            <a:endParaRPr b="0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571500" y="1714500"/>
            <a:ext cx="3810000" cy="2286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714375" y="1857375"/>
            <a:ext cx="762000" cy="228600"/>
          </a:xfrm>
          <a:prstGeom prst="roundRect">
            <a:avLst>
              <a:gd fmla="val 16666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714375" y="185737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ALEATORIC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714375" y="2238375"/>
            <a:ext cx="35244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Uncertainty</a:t>
            </a:r>
            <a:endParaRPr b="1" sz="1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Inherent ambiguity or noise in the response itself.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Manifests as variable wording, formatting, or phrasing.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450"/>
              </a:spcAft>
              <a:buClr>
                <a:srgbClr val="334155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Choosing this leads to training on random noise.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7738" y="1709738"/>
            <a:ext cx="3819600" cy="2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4905375" y="1857375"/>
            <a:ext cx="762000" cy="228600"/>
          </a:xfrm>
          <a:prstGeom prst="roundRect">
            <a:avLst>
              <a:gd fmla="val 1666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4905375" y="185737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EPISTEMIC</a:t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4905375" y="2238375"/>
            <a:ext cx="35244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 Uncertainty</a:t>
            </a:r>
            <a:endParaRPr b="1" sz="1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model truly does not know the concept or reasoning step.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Reflects a genuine lack of mathematical knowledge.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450"/>
              </a:spcBef>
              <a:spcAft>
                <a:spcPts val="450"/>
              </a:spcAft>
              <a:buClr>
                <a:srgbClr val="334155"/>
              </a:buClr>
              <a:buSzPts val="1100"/>
              <a:buFont typeface="Inter"/>
              <a:buChar char="●"/>
            </a:pP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Hypothesis: This is the critical signal for trajectory selection.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71500" y="4286250"/>
            <a:ext cx="8001000" cy="47640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666750" y="4286250"/>
            <a:ext cx="7810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b="0" lang="en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 entropy is not always useful if it mostly reflects noise instead of missing knowledge.</a:t>
            </a:r>
            <a:endParaRPr b="0" sz="13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7238" y="1905000"/>
            <a:ext cx="960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Estimate Epistemic Uncertainty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85" name="Google Shape;85;p16"/>
          <p:cNvGrpSpPr/>
          <p:nvPr/>
        </p:nvGrpSpPr>
        <p:grpSpPr>
          <a:xfrm>
            <a:off x="571500" y="1333500"/>
            <a:ext cx="2476500" cy="2667000"/>
            <a:chOff x="0" y="0"/>
            <a:chExt cx="2476500" cy="2667000"/>
          </a:xfrm>
        </p:grpSpPr>
        <p:sp>
          <p:nvSpPr>
            <p:cNvPr id="86" name="Google Shape;86;p16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190500" y="190500"/>
              <a:ext cx="571500" cy="209700"/>
            </a:xfrm>
            <a:prstGeom prst="roundRect">
              <a:avLst>
                <a:gd fmla="val 18181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190500" y="190500"/>
              <a:ext cx="571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1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190500" y="52387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4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Re-run the same trajectory</a:t>
              </a:r>
              <a:endParaRPr b="1" sz="124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190500" y="1000125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Feed one candidate reasoning trajectory into Qwen2.5-3B multiple times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Keep </a:t>
              </a:r>
              <a:r>
                <a:rPr b="1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dropout active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so each pass is slightly different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1" name="Google Shape;91;p16"/>
          <p:cNvGrpSpPr/>
          <p:nvPr/>
        </p:nvGrpSpPr>
        <p:grpSpPr>
          <a:xfrm>
            <a:off x="3333750" y="1333500"/>
            <a:ext cx="2476500" cy="2667000"/>
            <a:chOff x="0" y="0"/>
            <a:chExt cx="2476500" cy="2667000"/>
          </a:xfrm>
        </p:grpSpPr>
        <p:sp>
          <p:nvSpPr>
            <p:cNvPr id="92" name="Google Shape;92;p16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190500" y="190500"/>
              <a:ext cx="571500" cy="209700"/>
            </a:xfrm>
            <a:prstGeom prst="roundRect">
              <a:avLst>
                <a:gd fmla="val 18181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190500" y="190500"/>
              <a:ext cx="571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2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190500" y="52387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4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Compare the predictions</a:t>
              </a:r>
              <a:endParaRPr b="1" sz="124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190500" y="1000125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Each pass produces a slightly different prediction pattern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Agreement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suggests confidence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Disagreement</a:t>
              </a: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suggests uncertainty from missing knowledge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6096000" y="1333500"/>
            <a:ext cx="2476500" cy="2667000"/>
            <a:chOff x="0" y="0"/>
            <a:chExt cx="2476500" cy="2667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190500" y="190500"/>
              <a:ext cx="571500" cy="209700"/>
            </a:xfrm>
            <a:prstGeom prst="roundRect">
              <a:avLst>
                <a:gd fmla="val 18181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190500" y="190500"/>
              <a:ext cx="571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3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190500" y="52387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4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Score the trajectory</a:t>
              </a:r>
              <a:endParaRPr b="1" sz="124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190500" y="1000125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Trajectories with meaningful disagreement get higher scores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Higher score means the example is more useful for fine-tuning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3" name="Google Shape;103;p16"/>
          <p:cNvSpPr/>
          <p:nvPr/>
        </p:nvSpPr>
        <p:spPr>
          <a:xfrm>
            <a:off x="571500" y="4286250"/>
            <a:ext cx="8001000" cy="47640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762000" y="428625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 disagreement across dropout passes means the student model probably does not fully understand that reasoning pattern yet.</a:t>
            </a:r>
            <a:endParaRPr b="0" sz="13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50" y="2657475"/>
            <a:ext cx="954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0" y="2657475"/>
            <a:ext cx="95400" cy="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571500" y="3810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How the Score Is Computed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571500" y="8096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From multiple dropout passes to an epistemic uncertainty score</a:t>
            </a:r>
            <a:endParaRPr b="0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571500" y="1238250"/>
            <a:ext cx="8001000" cy="714300"/>
            <a:chOff x="0" y="0"/>
            <a:chExt cx="8001000" cy="714300"/>
          </a:xfrm>
        </p:grpSpPr>
        <p:sp>
          <p:nvSpPr>
            <p:cNvPr id="115" name="Google Shape;115;p17"/>
            <p:cNvSpPr/>
            <p:nvPr/>
          </p:nvSpPr>
          <p:spPr>
            <a:xfrm>
              <a:off x="0" y="0"/>
              <a:ext cx="8001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142875" y="142875"/>
              <a:ext cx="428700" cy="171600"/>
            </a:xfrm>
            <a:prstGeom prst="roundRect">
              <a:avLst>
                <a:gd fmla="val 22222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142875" y="142875"/>
              <a:ext cx="428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142875" y="36195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Average the predictions</a:t>
              </a:r>
              <a:endParaRPr b="1" sz="853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19" name="Google Shape;11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04988" y="114300"/>
              <a:ext cx="3629100" cy="48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17"/>
            <p:cNvSpPr txBox="1"/>
            <p:nvPr/>
          </p:nvSpPr>
          <p:spPr>
            <a:xfrm>
              <a:off x="1809750" y="119063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[ Equation Placeholder ]</a:t>
              </a:r>
              <a:endParaRPr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5572125" y="0"/>
              <a:ext cx="2286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Average the token probabilities across the dropout passes.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" name="Google Shape;122;p17"/>
          <p:cNvGrpSpPr/>
          <p:nvPr/>
        </p:nvGrpSpPr>
        <p:grpSpPr>
          <a:xfrm>
            <a:off x="571500" y="2047875"/>
            <a:ext cx="8001000" cy="714300"/>
            <a:chOff x="0" y="0"/>
            <a:chExt cx="8001000" cy="714300"/>
          </a:xfrm>
        </p:grpSpPr>
        <p:sp>
          <p:nvSpPr>
            <p:cNvPr id="123" name="Google Shape;123;p17"/>
            <p:cNvSpPr/>
            <p:nvPr/>
          </p:nvSpPr>
          <p:spPr>
            <a:xfrm>
              <a:off x="0" y="0"/>
              <a:ext cx="8001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142875" y="142875"/>
              <a:ext cx="428700" cy="171600"/>
            </a:xfrm>
            <a:prstGeom prst="roundRect">
              <a:avLst>
                <a:gd fmla="val 22222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142875" y="142875"/>
              <a:ext cx="428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STEP 2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142875" y="36195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Compute total entropy</a:t>
              </a:r>
              <a:endParaRPr b="1" sz="853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27" name="Google Shape;12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04988" y="114300"/>
              <a:ext cx="3629100" cy="48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7"/>
            <p:cNvSpPr txBox="1"/>
            <p:nvPr/>
          </p:nvSpPr>
          <p:spPr>
            <a:xfrm>
              <a:off x="1809750" y="119063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[ Equation Placeholder ]</a:t>
              </a:r>
              <a:endParaRPr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5572125" y="0"/>
              <a:ext cx="2286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Measure the uncertainty of the averaged prediction.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571500" y="2857500"/>
            <a:ext cx="8001000" cy="714300"/>
            <a:chOff x="0" y="0"/>
            <a:chExt cx="8001000" cy="714300"/>
          </a:xfrm>
        </p:grpSpPr>
        <p:sp>
          <p:nvSpPr>
            <p:cNvPr id="131" name="Google Shape;131;p17"/>
            <p:cNvSpPr/>
            <p:nvPr/>
          </p:nvSpPr>
          <p:spPr>
            <a:xfrm>
              <a:off x="0" y="0"/>
              <a:ext cx="80010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142875" y="142875"/>
              <a:ext cx="428700" cy="171600"/>
            </a:xfrm>
            <a:prstGeom prst="roundRect">
              <a:avLst>
                <a:gd fmla="val 22222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142875" y="142875"/>
              <a:ext cx="428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STEP 3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142875" y="36195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Compute expected entropy</a:t>
              </a:r>
              <a:endParaRPr b="1" sz="853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35" name="Google Shape;13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04988" y="114300"/>
              <a:ext cx="3629100" cy="48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17"/>
            <p:cNvSpPr txBox="1"/>
            <p:nvPr/>
          </p:nvSpPr>
          <p:spPr>
            <a:xfrm>
              <a:off x="1809750" y="119063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[ Equation Placeholder ]</a:t>
              </a:r>
              <a:endParaRPr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5572125" y="0"/>
              <a:ext cx="2286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Average the uncertainty inside each individual dropout pass.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8" name="Google Shape;138;p17"/>
          <p:cNvGrpSpPr/>
          <p:nvPr/>
        </p:nvGrpSpPr>
        <p:grpSpPr>
          <a:xfrm>
            <a:off x="571500" y="3667125"/>
            <a:ext cx="8001000" cy="714300"/>
            <a:chOff x="0" y="0"/>
            <a:chExt cx="8001000" cy="714300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8001000" cy="714300"/>
            </a:xfrm>
            <a:prstGeom prst="roundRect">
              <a:avLst>
                <a:gd fmla="val 10666" name="adj"/>
              </a:avLst>
            </a:prstGeom>
            <a:solidFill>
              <a:srgbClr val="F0FDFA"/>
            </a:solidFill>
            <a:ln cap="flat" cmpd="sng" w="1905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142875" y="142875"/>
              <a:ext cx="428700" cy="171600"/>
            </a:xfrm>
            <a:prstGeom prst="roundRect">
              <a:avLst>
                <a:gd fmla="val 22222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142875" y="142875"/>
              <a:ext cx="428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STEP 4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142875" y="36195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3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Get epistemic uncertainty</a:t>
              </a:r>
              <a:endParaRPr b="1" sz="853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43" name="Google Shape;14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04988" y="114300"/>
              <a:ext cx="3629100" cy="48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7"/>
            <p:cNvSpPr txBox="1"/>
            <p:nvPr/>
          </p:nvSpPr>
          <p:spPr>
            <a:xfrm>
              <a:off x="1809750" y="119063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[ Equation Placeholder ]</a:t>
              </a:r>
              <a:endParaRPr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5572125" y="0"/>
              <a:ext cx="2286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Subtract expected entropy from total entropy to isolate disagreement.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6" name="Google Shape;146;p17"/>
          <p:cNvSpPr/>
          <p:nvPr/>
        </p:nvSpPr>
        <p:spPr>
          <a:xfrm>
            <a:off x="571500" y="4572000"/>
            <a:ext cx="8001000" cy="285900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4572000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K = 10 dropout passes • t = token position • v = vocabulary token</a:t>
            </a:r>
            <a:endParaRPr b="0" sz="10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48" name="Google Shape;148;p17" title="Screenshot 2026-04-15 at 10.28.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350" y="1398850"/>
            <a:ext cx="1724575" cy="41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title="Screenshot 2026-04-15 at 10.29.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9225" y="2195475"/>
            <a:ext cx="21305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title="Screenshot 2026-04-15 at 10.31.3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1913" y="2986050"/>
            <a:ext cx="33051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title="Screenshot 2026-04-15 at 10.32.2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66738" y="3886150"/>
            <a:ext cx="22955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Experimental Pipeline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2633663"/>
            <a:ext cx="1905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2609850"/>
            <a:ext cx="190500" cy="11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18"/>
          <p:cNvGrpSpPr/>
          <p:nvPr/>
        </p:nvGrpSpPr>
        <p:grpSpPr>
          <a:xfrm>
            <a:off x="571500" y="1238250"/>
            <a:ext cx="2476500" cy="2857500"/>
            <a:chOff x="571500" y="1238250"/>
            <a:chExt cx="2476500" cy="2857500"/>
          </a:xfrm>
        </p:grpSpPr>
        <p:sp>
          <p:nvSpPr>
            <p:cNvPr id="161" name="Google Shape;161;p18"/>
            <p:cNvSpPr/>
            <p:nvPr/>
          </p:nvSpPr>
          <p:spPr>
            <a:xfrm>
              <a:off x="571500" y="12382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571500" y="123825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762000" y="147637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Generate Candidate Data</a:t>
              </a:r>
              <a:endParaRPr b="1" sz="119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762000" y="1952625"/>
              <a:ext cx="2095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Teacher model: Qwen2.5-72B-Instruct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12,000 math problems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5 reasoning trajectories per problem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60,000 total candidate trajectories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5" name="Google Shape;165;p18"/>
          <p:cNvGrpSpPr/>
          <p:nvPr/>
        </p:nvGrpSpPr>
        <p:grpSpPr>
          <a:xfrm>
            <a:off x="3333750" y="1238250"/>
            <a:ext cx="2476500" cy="2857500"/>
            <a:chOff x="3333750" y="1238250"/>
            <a:chExt cx="2476500" cy="2857500"/>
          </a:xfrm>
        </p:grpSpPr>
        <p:sp>
          <p:nvSpPr>
            <p:cNvPr id="166" name="Google Shape;166;p18"/>
            <p:cNvSpPr/>
            <p:nvPr/>
          </p:nvSpPr>
          <p:spPr>
            <a:xfrm>
              <a:off x="3333750" y="12382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3333750" y="123825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3524250" y="147637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Score and Select Trajectories</a:t>
              </a:r>
              <a:endParaRPr b="1" sz="119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3524250" y="1952625"/>
              <a:ext cx="2095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Student model: Qwen2.5-3B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Each trajectory scored with 10 MC-dropout passes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Baseline: total entropy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Proposed: epistemic uncertainty via mutual info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One winner selected per scoring rule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6096000" y="1238250"/>
            <a:ext cx="2476500" cy="2857500"/>
            <a:chOff x="6096000" y="1238250"/>
            <a:chExt cx="2476500" cy="2857500"/>
          </a:xfrm>
        </p:grpSpPr>
        <p:sp>
          <p:nvSpPr>
            <p:cNvPr id="171" name="Google Shape;171;p18"/>
            <p:cNvSpPr/>
            <p:nvPr/>
          </p:nvSpPr>
          <p:spPr>
            <a:xfrm>
              <a:off x="6096000" y="12382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6096000" y="123825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6286500" y="1476375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Fine-Tune and Compare</a:t>
              </a:r>
              <a:endParaRPr b="1" sz="119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6286500" y="1952625"/>
              <a:ext cx="2095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Train two separate LoRA student models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One model uses baseline-selected data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One model uses epistemic-selected data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Evaluate on downstream reasoning benchmarks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75" name="Google Shape;175;p18"/>
          <p:cNvSpPr/>
          <p:nvPr/>
        </p:nvSpPr>
        <p:spPr>
          <a:xfrm>
            <a:off x="571500" y="4333875"/>
            <a:ext cx="8001000" cy="523800"/>
          </a:xfrm>
          <a:prstGeom prst="roundRect">
            <a:avLst>
              <a:gd fmla="val 1454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62000" y="4333875"/>
            <a:ext cx="7620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scoring rule materially changed the training data: the two methods selected different winning trajectories for </a:t>
            </a:r>
            <a:r>
              <a:rPr b="0" lang="en" sz="1300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67.54%</a:t>
            </a:r>
            <a:r>
              <a:rPr b="0" lang="en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of problems.</a:t>
            </a:r>
            <a:endParaRPr b="0" sz="13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4762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Evaluation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83" name="Google Shape;183;p19"/>
          <p:cNvGrpSpPr/>
          <p:nvPr/>
        </p:nvGrpSpPr>
        <p:grpSpPr>
          <a:xfrm>
            <a:off x="2619300" y="1309613"/>
            <a:ext cx="3905400" cy="2762400"/>
            <a:chOff x="4667250" y="1333500"/>
            <a:chExt cx="3905400" cy="2762400"/>
          </a:xfrm>
        </p:grpSpPr>
        <p:sp>
          <p:nvSpPr>
            <p:cNvPr id="184" name="Google Shape;184;p19"/>
            <p:cNvSpPr/>
            <p:nvPr/>
          </p:nvSpPr>
          <p:spPr>
            <a:xfrm>
              <a:off x="4667250" y="1333500"/>
              <a:ext cx="3905400" cy="27624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4667250" y="133350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4905375" y="157162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Evaluation Setup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4905375" y="1952625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Benchmarks: MATH-500 and GSM8K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Compare baseline vs. epistemic selection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Primary Metric: ACC@1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Extract first boxed final answer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100"/>
                <a:buFont typeface="Inter"/>
                <a:buChar char="●"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Grade by exact string match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8" name="Google Shape;188;p19"/>
          <p:cNvSpPr/>
          <p:nvPr/>
        </p:nvSpPr>
        <p:spPr>
          <a:xfrm>
            <a:off x="571500" y="4333875"/>
            <a:ext cx="8001000" cy="523800"/>
          </a:xfrm>
          <a:prstGeom prst="roundRect">
            <a:avLst>
              <a:gd fmla="val 1454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62000" y="4333875"/>
            <a:ext cx="7620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only experimental difference between the two models is the </a:t>
            </a:r>
            <a:r>
              <a:rPr b="0" lang="en" sz="1300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trajectory selection rule</a:t>
            </a:r>
            <a:r>
              <a:rPr b="0" lang="en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</a:t>
            </a:r>
            <a:endParaRPr b="0" sz="13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0" title="Screenshot 2026-04-15 at 14.12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38" y="38100"/>
            <a:ext cx="8104528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1" title="Screenshot 2026-04-15 at 14.12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75" y="38100"/>
            <a:ext cx="8235258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428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 and Future Work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06" name="Google Shape;206;p22"/>
          <p:cNvGrpSpPr/>
          <p:nvPr/>
        </p:nvGrpSpPr>
        <p:grpSpPr>
          <a:xfrm>
            <a:off x="571500" y="1238250"/>
            <a:ext cx="2476500" cy="2857500"/>
            <a:chOff x="571500" y="1238250"/>
            <a:chExt cx="2476500" cy="2857500"/>
          </a:xfrm>
        </p:grpSpPr>
        <p:sp>
          <p:nvSpPr>
            <p:cNvPr id="207" name="Google Shape;207;p22"/>
            <p:cNvSpPr/>
            <p:nvPr/>
          </p:nvSpPr>
          <p:spPr>
            <a:xfrm>
              <a:off x="571500" y="12382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571500" y="123825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2"/>
            <p:cNvSpPr txBox="1"/>
            <p:nvPr/>
          </p:nvSpPr>
          <p:spPr>
            <a:xfrm>
              <a:off x="762000" y="14287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Main Takeaway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0" name="Google Shape;210;p22"/>
            <p:cNvSpPr txBox="1"/>
            <p:nvPr/>
          </p:nvSpPr>
          <p:spPr>
            <a:xfrm>
              <a:off x="762000" y="1905000"/>
              <a:ext cx="2095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Epistemic uncertainty slightly outperformed total-entropy selection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improvement was positive on both MATH-500 and GSM8K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effect size was small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1" name="Google Shape;211;p22"/>
          <p:cNvGrpSpPr/>
          <p:nvPr/>
        </p:nvGrpSpPr>
        <p:grpSpPr>
          <a:xfrm>
            <a:off x="3333750" y="1238250"/>
            <a:ext cx="2476500" cy="2857500"/>
            <a:chOff x="3333750" y="1238250"/>
            <a:chExt cx="2476500" cy="2857500"/>
          </a:xfrm>
        </p:grpSpPr>
        <p:sp>
          <p:nvSpPr>
            <p:cNvPr id="212" name="Google Shape;212;p22"/>
            <p:cNvSpPr/>
            <p:nvPr/>
          </p:nvSpPr>
          <p:spPr>
            <a:xfrm>
              <a:off x="3333750" y="12382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3333750" y="123825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3524250" y="14287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What This Means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5" name="Google Shape;215;p22"/>
            <p:cNvSpPr txBox="1"/>
            <p:nvPr/>
          </p:nvSpPr>
          <p:spPr>
            <a:xfrm>
              <a:off x="3524250" y="1905000"/>
              <a:ext cx="2095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Bayesian uncertainty is a promising direction for trajectory selection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Useful for identifying informative reasoning data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Result is not yet strong enough to be considered definitive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6" name="Google Shape;216;p22"/>
          <p:cNvGrpSpPr/>
          <p:nvPr/>
        </p:nvGrpSpPr>
        <p:grpSpPr>
          <a:xfrm>
            <a:off x="6096000" y="1238250"/>
            <a:ext cx="2476500" cy="2857500"/>
            <a:chOff x="6096000" y="1238250"/>
            <a:chExt cx="2476500" cy="2857500"/>
          </a:xfrm>
        </p:grpSpPr>
        <p:sp>
          <p:nvSpPr>
            <p:cNvPr id="217" name="Google Shape;217;p22"/>
            <p:cNvSpPr/>
            <p:nvPr/>
          </p:nvSpPr>
          <p:spPr>
            <a:xfrm>
              <a:off x="6096000" y="12382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6096000" y="123825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2"/>
            <p:cNvSpPr txBox="1"/>
            <p:nvPr/>
          </p:nvSpPr>
          <p:spPr>
            <a:xfrm>
              <a:off x="6286500" y="14287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Next Steps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6286500" y="1857375"/>
              <a:ext cx="20955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Stronger answer normalization and equivalence checking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Combine with diversity-aware selection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Test larger ablations and selection budgets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018"/>
                <a:buFont typeface="Inter"/>
                <a:buChar char="●"/>
              </a:pPr>
              <a:r>
                <a:rPr b="0" lang="en" sz="101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Improve uncertainty preservation during distillation</a:t>
              </a:r>
              <a:endParaRPr b="0" sz="101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21" name="Google Shape;221;p22"/>
          <p:cNvSpPr/>
          <p:nvPr/>
        </p:nvSpPr>
        <p:spPr>
          <a:xfrm>
            <a:off x="571500" y="4333875"/>
            <a:ext cx="8001000" cy="523800"/>
          </a:xfrm>
          <a:prstGeom prst="roundRect">
            <a:avLst>
              <a:gd fmla="val 1454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62000" y="4333875"/>
            <a:ext cx="7620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This project should be viewed as a promising proof of concept rather than a final conclusive result.</a:t>
            </a:r>
            <a:endParaRPr b="0" sz="13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